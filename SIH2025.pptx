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48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2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9.png"/><Relationship Id="rId14" Type="http://schemas.openxmlformats.org/officeDocument/2006/relationships/image" Target="../media/image14.jpeg"/><Relationship Id="rId22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g"/><Relationship Id="rId5" Type="http://schemas.openxmlformats.org/officeDocument/2006/relationships/image" Target="../media/image25.jpeg"/><Relationship Id="rId10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rp.org/pdf/ojbm_1534458.pdf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sciencedirect.com/science/article/abs/pii/S2214786125000257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mc.ncbi.nlm.nih.gov/articles/PMC8572703/" TargetMode="External"/><Relationship Id="rId5" Type="http://schemas.openxmlformats.org/officeDocument/2006/relationships/hyperlink" Target="https://www.lfdecentralizedtrust.org/case-studies/walmart-case-study" TargetMode="External"/><Relationship Id="rId10" Type="http://schemas.openxmlformats.org/officeDocument/2006/relationships/hyperlink" Target="https://www.nature.com/articles/s41598-025-00727-7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ieeexplore.ieee.org/document/10581263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289289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2566" y="1183528"/>
            <a:ext cx="6790874" cy="5548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25027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b="1" dirty="0"/>
              <a:t>Develop a blockchain-based system for botanical traceability of Ayurvedic herbs, including geo-tagging from the point of collection (farmers/wild collectors) to the final Ayurvedic formulation label.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Blockchain &amp; Cybersecurity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ID- 100746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76679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0" y="-274608"/>
            <a:ext cx="12191999" cy="1143000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SOIL-TO-SHELF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08154" y="760410"/>
            <a:ext cx="12191999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tx2"/>
                </a:solidFill>
              </a:rPr>
              <a:t>Blockchain-Powered Traceability Platform for Ayurveda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4167" y="28833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CREATIVE CARTEL</a:t>
            </a:r>
            <a:endParaRPr lang="en-IN" sz="1200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8713" y="-1792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714B1B10-68C3-4F74-7A7E-297C8730EB67}"/>
              </a:ext>
            </a:extLst>
          </p:cNvPr>
          <p:cNvSpPr/>
          <p:nvPr/>
        </p:nvSpPr>
        <p:spPr>
          <a:xfrm>
            <a:off x="8227356" y="168622"/>
            <a:ext cx="1595962" cy="80733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341AAE1-8516-4A5A-C6DE-ADDA6F90F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122" y="-96047"/>
            <a:ext cx="1794390" cy="1346613"/>
          </a:xfrm>
          <a:prstGeom prst="rect">
            <a:avLst/>
          </a:prstGeom>
          <a:ln>
            <a:noFill/>
          </a:ln>
        </p:spPr>
      </p:pic>
      <p:pic>
        <p:nvPicPr>
          <p:cNvPr id="11" name="Picture 10" descr="Project Architecture&#10;">
            <a:extLst>
              <a:ext uri="{FF2B5EF4-FFF2-40B4-BE49-F238E27FC236}">
                <a16:creationId xmlns:a16="http://schemas.microsoft.com/office/drawing/2014/main" id="{FCD5575C-D97B-C2B3-FBA1-01DD57C6C3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104" b="7018"/>
          <a:stretch>
            <a:fillRect/>
          </a:stretch>
        </p:blipFill>
        <p:spPr>
          <a:xfrm>
            <a:off x="6929969" y="1240625"/>
            <a:ext cx="5057700" cy="4901681"/>
          </a:xfrm>
          <a:prstGeom prst="rect">
            <a:avLst/>
          </a:prstGeom>
        </p:spPr>
      </p:pic>
      <p:sp>
        <p:nvSpPr>
          <p:cNvPr id="13" name="Rectangle 11">
            <a:extLst>
              <a:ext uri="{FF2B5EF4-FFF2-40B4-BE49-F238E27FC236}">
                <a16:creationId xmlns:a16="http://schemas.microsoft.com/office/drawing/2014/main" id="{E2D8FF7E-46F3-8196-1452-289ECDA87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31" y="1083962"/>
            <a:ext cx="6374942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Technology: </a:t>
            </a:r>
            <a:r>
              <a:rPr lang="en-US" sz="1200" dirty="0"/>
              <a:t>Hyperledger Fabric (permissioned blockchain) ensures secure, immutable, transparent tracking.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Geo-Tagging: </a:t>
            </a:r>
            <a:r>
              <a:rPr lang="en-US" sz="1200" dirty="0"/>
              <a:t>Farmers use a mobile </a:t>
            </a:r>
            <a:r>
              <a:rPr lang="en-US" sz="1200" dirty="0" err="1"/>
              <a:t>DApp</a:t>
            </a:r>
            <a:r>
              <a:rPr lang="en-US" sz="1200" dirty="0"/>
              <a:t> to log GPS, timestamp, species, and quality at collection, creating a blockchain-based </a:t>
            </a:r>
            <a:r>
              <a:rPr lang="en-US" sz="1200" dirty="0" err="1"/>
              <a:t>CollectionEvent</a:t>
            </a:r>
            <a:r>
              <a:rPr lang="en-US" sz="1200" dirty="0"/>
              <a:t>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Smart Contracts (</a:t>
            </a:r>
            <a:r>
              <a:rPr lang="en-US" sz="1200" b="1" dirty="0" err="1"/>
              <a:t>Chaincode</a:t>
            </a:r>
            <a:r>
              <a:rPr lang="en-US" sz="1200" b="1" dirty="0"/>
              <a:t>): </a:t>
            </a:r>
            <a:r>
              <a:rPr lang="en-US" sz="1200" dirty="0"/>
              <a:t>Enforce rules (geo-fencing, seasonal restrictions, quality validation) and record lifecycle events (collection, tests, processing) using composite keys for linked herb batch data.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Consumer Transparency: </a:t>
            </a:r>
            <a:r>
              <a:rPr lang="en-US" sz="1200" dirty="0"/>
              <a:t>QR codes on products link to blockchain data, showing an interactive map, event timeline, quality certificates, and farmer details.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Problem Solving: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200" dirty="0"/>
              <a:t>Adulteration/Mislabeling: Immutable records prevent tampering.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200" dirty="0"/>
              <a:t>Provenance Loss: Geo-tagging traces herbs to their exact origin.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200" dirty="0"/>
              <a:t>Unsustainability: Blockchain enforces compliance, discouraging over-harvesting.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200" dirty="0"/>
              <a:t>Consumer Trust: QR-based transparency boosts confidence.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200" dirty="0"/>
              <a:t>Scalability: Supports ₹1 lakh crore export potential with global credibility.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Innovations: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200" dirty="0"/>
              <a:t>First “Soil-to-Shelf” blockchain traceability for Ayurveda.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200" dirty="0"/>
              <a:t>Geo-tagged collection events for authenticity.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200" dirty="0"/>
              <a:t>Composite key system for unlimited linked events.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200" dirty="0"/>
              <a:t>Hybrid data strategy for blockchain efficiency.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200" dirty="0"/>
              <a:t>Smart QR labeling for consumer access without apps.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200" dirty="0"/>
              <a:t>Built-in compliance with National Medicinal Plants Board guidelines.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Stakeholder Benefits: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200" dirty="0"/>
              <a:t>Farmers: Fair pay and recognition.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200" dirty="0"/>
              <a:t>Manufacturers: Assured quality and compliance.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200" dirty="0"/>
              <a:t>Regulators: Real-time monitoring.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200" dirty="0"/>
              <a:t>Consumers: Verified authenticity, safety, and sustainability.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0" y="-191738"/>
            <a:ext cx="12191998" cy="1143000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7128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CREATIVE CARTEL</a:t>
            </a:r>
            <a:endParaRPr lang="en-IN" sz="1200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878" y="0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9BBEDC19-91A2-3480-A94D-82CF0AD925D1}"/>
              </a:ext>
            </a:extLst>
          </p:cNvPr>
          <p:cNvSpPr/>
          <p:nvPr/>
        </p:nvSpPr>
        <p:spPr>
          <a:xfrm>
            <a:off x="8227356" y="168622"/>
            <a:ext cx="1595962" cy="80733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479D61E-C147-A6E8-4513-20041369D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122" y="-96047"/>
            <a:ext cx="1794390" cy="1346613"/>
          </a:xfrm>
          <a:prstGeom prst="rect">
            <a:avLst/>
          </a:prstGeom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3F7CC2-70CD-A79B-F2AB-4D46BE4C3129}"/>
              </a:ext>
            </a:extLst>
          </p:cNvPr>
          <p:cNvSpPr txBox="1"/>
          <p:nvPr/>
        </p:nvSpPr>
        <p:spPr>
          <a:xfrm>
            <a:off x="274319" y="1105287"/>
            <a:ext cx="6348996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b="1" u="sng" dirty="0">
                <a:solidFill>
                  <a:schemeClr val="tx2"/>
                </a:solidFill>
              </a:rPr>
              <a:t>Technical Stack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b="1" dirty="0"/>
              <a:t>Blockchain</a:t>
            </a:r>
            <a:r>
              <a:rPr lang="en-IN" sz="1200" dirty="0"/>
              <a:t>: Hyperledger Fabric 2.5.x (permissioned, scalable, private channels, CouchDB).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b="1" dirty="0"/>
              <a:t>Backend</a:t>
            </a:r>
            <a:r>
              <a:rPr lang="en-IN" sz="1200" dirty="0"/>
              <a:t>: Node.js + Express + Fabric Node SDK (RESTful APIs, async, unified JS).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b="1" dirty="0"/>
              <a:t>Database</a:t>
            </a:r>
            <a:r>
              <a:rPr lang="en-IN" sz="1200" dirty="0"/>
              <a:t>: PostgreSQL 14+ (hybrid on/off-chain storage for users, herb batches, QR codes, transactions).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b="1" dirty="0"/>
              <a:t>Frontend</a:t>
            </a:r>
            <a:r>
              <a:rPr lang="en-IN" sz="1200" dirty="0"/>
              <a:t>: React (component-based, interactive UI for consumer portal and dashboards).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b="1" dirty="0"/>
              <a:t>Containerization</a:t>
            </a:r>
            <a:r>
              <a:rPr lang="en-IN" sz="1200" dirty="0"/>
              <a:t>: Docker &amp; Docker Compose (consistent environment, easy Fabric setup).</a:t>
            </a:r>
          </a:p>
          <a:p>
            <a:endParaRPr lang="en-IN" sz="1200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b="1" u="sng" dirty="0">
                <a:solidFill>
                  <a:schemeClr val="tx2"/>
                </a:solidFill>
              </a:rPr>
              <a:t>Core Methodology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b="1" dirty="0"/>
              <a:t>On-Chain Data</a:t>
            </a:r>
            <a:r>
              <a:rPr lang="en-IN" sz="1200" dirty="0"/>
              <a:t>: Immutable records for </a:t>
            </a:r>
            <a:r>
              <a:rPr lang="en-IN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CollectionEvent</a:t>
            </a:r>
            <a:r>
              <a:rPr lang="en-I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N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QualityTest</a:t>
            </a:r>
            <a:r>
              <a:rPr lang="en-I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N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ProcessingStep</a:t>
            </a:r>
            <a:r>
              <a:rPr lang="en-IN" sz="1200" dirty="0"/>
              <a:t>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b="1" dirty="0"/>
              <a:t>Off-Chain Data</a:t>
            </a:r>
            <a:r>
              <a:rPr lang="en-IN" sz="1200" dirty="0"/>
              <a:t>: Metadata, images, QR mappings, transaction logs.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b="1" dirty="0" err="1"/>
              <a:t>Chaincode</a:t>
            </a:r>
            <a:r>
              <a:rPr lang="en-IN" sz="1200" b="1" dirty="0"/>
              <a:t> (Smart Contracts – herb-contract.js)</a:t>
            </a:r>
            <a:r>
              <a:rPr lang="en-IN" sz="1200" dirty="0"/>
              <a:t>: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IN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recordCollection</a:t>
            </a:r>
            <a:r>
              <a:rPr lang="en-I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IN" sz="1200" dirty="0"/>
              <a:t>Logs geo-tagged harvest.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IN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addQualityTest</a:t>
            </a:r>
            <a:r>
              <a:rPr lang="en-I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IN" sz="1200" dirty="0"/>
              <a:t>&amp; </a:t>
            </a:r>
            <a:r>
              <a:rPr lang="en-IN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addProcessingStep</a:t>
            </a:r>
            <a:r>
              <a:rPr lang="en-I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IN" sz="1200" dirty="0"/>
              <a:t>Appends events with composite keys.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IN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getHerbJourney</a:t>
            </a:r>
            <a:r>
              <a:rPr lang="en-I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IN" sz="1200" dirty="0"/>
              <a:t>Retrieves full batch history.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b="1" dirty="0"/>
              <a:t>Geo-Tagging</a:t>
            </a:r>
            <a:r>
              <a:rPr lang="en-IN" sz="1200" dirty="0"/>
              <a:t>: GPS + timestamp via mobile </a:t>
            </a:r>
            <a:r>
              <a:rPr lang="en-IN" sz="1200" dirty="0" err="1"/>
              <a:t>DApp</a:t>
            </a:r>
            <a:r>
              <a:rPr lang="en-IN" sz="1200" dirty="0"/>
              <a:t> at collection.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b="1" dirty="0"/>
              <a:t>QR Code System</a:t>
            </a:r>
            <a:r>
              <a:rPr lang="en-IN" sz="1200" dirty="0"/>
              <a:t>: Maps product to</a:t>
            </a:r>
            <a:r>
              <a:rPr lang="en-I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herbId</a:t>
            </a:r>
            <a:r>
              <a:rPr lang="en-I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1200" dirty="0"/>
              <a:t>for consumer journey access.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b="1" dirty="0"/>
              <a:t>RESTful APIs</a:t>
            </a:r>
            <a:r>
              <a:rPr lang="en-IN" sz="1200" dirty="0"/>
              <a:t>: </a:t>
            </a:r>
            <a:r>
              <a:rPr lang="en-I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IN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I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/fabric/collect, /</a:t>
            </a:r>
            <a:r>
              <a:rPr lang="en-IN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I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/fabric/herb/:</a:t>
            </a:r>
            <a:r>
              <a:rPr lang="en-IN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herbId</a:t>
            </a:r>
            <a:r>
              <a:rPr lang="en-I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1200" dirty="0"/>
              <a:t>for dashboards.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b="1" dirty="0"/>
              <a:t>Workflow</a:t>
            </a:r>
            <a:r>
              <a:rPr lang="en-IN" sz="1200" dirty="0"/>
              <a:t>: Farmer → Lab → Processor → QR Packaging → Consumer Verification.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b="1" dirty="0"/>
              <a:t>Metadata</a:t>
            </a:r>
            <a:r>
              <a:rPr lang="en-IN" sz="1200" dirty="0"/>
              <a:t>: JSON (FHIR-style) for interoperability.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b="1" dirty="0"/>
              <a:t>Validation</a:t>
            </a:r>
            <a:r>
              <a:rPr lang="en-IN" sz="1200" dirty="0"/>
              <a:t>: Smart contracts enforce geo-fencing, seasonal, and quality rules.</a:t>
            </a:r>
          </a:p>
        </p:txBody>
      </p:sp>
      <p:pic>
        <p:nvPicPr>
          <p:cNvPr id="8" name="Picture 7" descr="Flow Chart">
            <a:extLst>
              <a:ext uri="{FF2B5EF4-FFF2-40B4-BE49-F238E27FC236}">
                <a16:creationId xmlns:a16="http://schemas.microsoft.com/office/drawing/2014/main" id="{21B0BB50-68D1-8AE7-9B15-616916E5E8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4380"/>
          <a:stretch>
            <a:fillRect/>
          </a:stretch>
        </p:blipFill>
        <p:spPr>
          <a:xfrm>
            <a:off x="6181181" y="1204483"/>
            <a:ext cx="5736500" cy="2662029"/>
          </a:xfrm>
          <a:prstGeom prst="rect">
            <a:avLst/>
          </a:prstGeom>
        </p:spPr>
      </p:pic>
      <p:pic>
        <p:nvPicPr>
          <p:cNvPr id="14" name="Picture 13" descr="JavaScript">
            <a:extLst>
              <a:ext uri="{FF2B5EF4-FFF2-40B4-BE49-F238E27FC236}">
                <a16:creationId xmlns:a16="http://schemas.microsoft.com/office/drawing/2014/main" id="{59846942-12A4-CB19-A308-82AA0F8BE7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3266" y="4122512"/>
            <a:ext cx="553616" cy="467829"/>
          </a:xfrm>
          <a:prstGeom prst="rect">
            <a:avLst/>
          </a:prstGeom>
        </p:spPr>
      </p:pic>
      <p:pic>
        <p:nvPicPr>
          <p:cNvPr id="18" name="Picture 17" descr="Nodejs">
            <a:extLst>
              <a:ext uri="{FF2B5EF4-FFF2-40B4-BE49-F238E27FC236}">
                <a16:creationId xmlns:a16="http://schemas.microsoft.com/office/drawing/2014/main" id="{9A717541-E19C-39CB-C77B-AC8E9ECF8A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5555" y="4119733"/>
            <a:ext cx="576500" cy="576500"/>
          </a:xfrm>
          <a:prstGeom prst="rect">
            <a:avLst/>
          </a:prstGeom>
        </p:spPr>
      </p:pic>
      <p:pic>
        <p:nvPicPr>
          <p:cNvPr id="22" name="Picture 21" descr="PostgreQL">
            <a:extLst>
              <a:ext uri="{FF2B5EF4-FFF2-40B4-BE49-F238E27FC236}">
                <a16:creationId xmlns:a16="http://schemas.microsoft.com/office/drawing/2014/main" id="{9A629CFD-04A1-D00A-AA39-60D4A0DD60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0361" y="4720096"/>
            <a:ext cx="580572" cy="580572"/>
          </a:xfrm>
          <a:prstGeom prst="rect">
            <a:avLst/>
          </a:prstGeom>
        </p:spPr>
      </p:pic>
      <p:pic>
        <p:nvPicPr>
          <p:cNvPr id="26" name="Picture 25" descr="Reactjs">
            <a:extLst>
              <a:ext uri="{FF2B5EF4-FFF2-40B4-BE49-F238E27FC236}">
                <a16:creationId xmlns:a16="http://schemas.microsoft.com/office/drawing/2014/main" id="{8B3055AF-0DBA-9B68-1179-73F97F0AE8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6632" y="4711413"/>
            <a:ext cx="637921" cy="637921"/>
          </a:xfrm>
          <a:prstGeom prst="rect">
            <a:avLst/>
          </a:prstGeom>
        </p:spPr>
      </p:pic>
      <p:pic>
        <p:nvPicPr>
          <p:cNvPr id="28" name="Picture 27" descr="Block Chain">
            <a:extLst>
              <a:ext uri="{FF2B5EF4-FFF2-40B4-BE49-F238E27FC236}">
                <a16:creationId xmlns:a16="http://schemas.microsoft.com/office/drawing/2014/main" id="{B47BF605-AD1B-CA4E-2DA6-D97C803F87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1817" y="5397293"/>
            <a:ext cx="681913" cy="681913"/>
          </a:xfrm>
          <a:prstGeom prst="rect">
            <a:avLst/>
          </a:prstGeom>
        </p:spPr>
      </p:pic>
      <p:pic>
        <p:nvPicPr>
          <p:cNvPr id="33" name="Graphic 32" descr="Tailwind CSS">
            <a:extLst>
              <a:ext uri="{FF2B5EF4-FFF2-40B4-BE49-F238E27FC236}">
                <a16:creationId xmlns:a16="http://schemas.microsoft.com/office/drawing/2014/main" id="{9C0AE40F-0DD9-2A6D-E3EE-F56BB92CB84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67919" y="4249122"/>
            <a:ext cx="617174" cy="377162"/>
          </a:xfrm>
          <a:prstGeom prst="rect">
            <a:avLst/>
          </a:prstGeom>
        </p:spPr>
      </p:pic>
      <p:pic>
        <p:nvPicPr>
          <p:cNvPr id="1028" name="Picture 4" descr="Hyperledger">
            <a:extLst>
              <a:ext uri="{FF2B5EF4-FFF2-40B4-BE49-F238E27FC236}">
                <a16:creationId xmlns:a16="http://schemas.microsoft.com/office/drawing/2014/main" id="{B6916E11-E00A-692C-0D99-AB9225C92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555" y="5397293"/>
            <a:ext cx="780125" cy="78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yperledger fabric">
            <a:extLst>
              <a:ext uri="{FF2B5EF4-FFF2-40B4-BE49-F238E27FC236}">
                <a16:creationId xmlns:a16="http://schemas.microsoft.com/office/drawing/2014/main" id="{1CBEC680-4102-DF1B-6D99-A01B0FAD04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2" t="25173" r="62853" b="27088"/>
          <a:stretch>
            <a:fillRect/>
          </a:stretch>
        </p:blipFill>
        <p:spPr bwMode="auto">
          <a:xfrm>
            <a:off x="9435720" y="4029826"/>
            <a:ext cx="879429" cy="856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 descr="Git">
            <a:extLst>
              <a:ext uri="{FF2B5EF4-FFF2-40B4-BE49-F238E27FC236}">
                <a16:creationId xmlns:a16="http://schemas.microsoft.com/office/drawing/2014/main" id="{AE4F2A75-BCF8-E520-8A89-6998D224B97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30957" y="4237297"/>
            <a:ext cx="683309" cy="683309"/>
          </a:xfrm>
          <a:prstGeom prst="rect">
            <a:avLst/>
          </a:prstGeom>
        </p:spPr>
      </p:pic>
      <p:pic>
        <p:nvPicPr>
          <p:cNvPr id="42" name="Graphic 41" descr="Expressjs">
            <a:extLst>
              <a:ext uri="{FF2B5EF4-FFF2-40B4-BE49-F238E27FC236}">
                <a16:creationId xmlns:a16="http://schemas.microsoft.com/office/drawing/2014/main" id="{992F6778-3D88-3932-7FC4-3D47D522F9A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967505" y="5445700"/>
            <a:ext cx="683309" cy="683309"/>
          </a:xfrm>
          <a:prstGeom prst="rect">
            <a:avLst/>
          </a:prstGeom>
        </p:spPr>
      </p:pic>
      <p:pic>
        <p:nvPicPr>
          <p:cNvPr id="44" name="Picture 43" descr="API">
            <a:extLst>
              <a:ext uri="{FF2B5EF4-FFF2-40B4-BE49-F238E27FC236}">
                <a16:creationId xmlns:a16="http://schemas.microsoft.com/office/drawing/2014/main" id="{DC2E47BF-296A-292D-C3E1-947A4E5BEE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15149" y="4165534"/>
            <a:ext cx="772289" cy="772289"/>
          </a:xfrm>
          <a:prstGeom prst="rect">
            <a:avLst/>
          </a:prstGeom>
        </p:spPr>
      </p:pic>
      <p:pic>
        <p:nvPicPr>
          <p:cNvPr id="46" name="Picture 45" descr="Geo Tagging">
            <a:extLst>
              <a:ext uri="{FF2B5EF4-FFF2-40B4-BE49-F238E27FC236}">
                <a16:creationId xmlns:a16="http://schemas.microsoft.com/office/drawing/2014/main" id="{8465530A-12F5-4C33-B7D2-1063D25CA88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76506" y="4722579"/>
            <a:ext cx="648182" cy="648182"/>
          </a:xfrm>
          <a:prstGeom prst="rect">
            <a:avLst/>
          </a:prstGeom>
        </p:spPr>
      </p:pic>
      <p:pic>
        <p:nvPicPr>
          <p:cNvPr id="50" name="Picture 49" descr="GitHub">
            <a:extLst>
              <a:ext uri="{FF2B5EF4-FFF2-40B4-BE49-F238E27FC236}">
                <a16:creationId xmlns:a16="http://schemas.microsoft.com/office/drawing/2014/main" id="{C8460429-4EE2-7CF6-58F8-C1F087EDBA1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234770" y="4191094"/>
            <a:ext cx="695259" cy="695259"/>
          </a:xfrm>
          <a:prstGeom prst="rect">
            <a:avLst/>
          </a:prstGeom>
        </p:spPr>
      </p:pic>
      <p:pic>
        <p:nvPicPr>
          <p:cNvPr id="52" name="Picture 51" descr="Dashboard">
            <a:extLst>
              <a:ext uri="{FF2B5EF4-FFF2-40B4-BE49-F238E27FC236}">
                <a16:creationId xmlns:a16="http://schemas.microsoft.com/office/drawing/2014/main" id="{D5A22AC1-D8FF-F123-225F-F4AFB6CAC12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37600" y="5418944"/>
            <a:ext cx="822942" cy="822942"/>
          </a:xfrm>
          <a:prstGeom prst="rect">
            <a:avLst/>
          </a:prstGeom>
        </p:spPr>
      </p:pic>
      <p:pic>
        <p:nvPicPr>
          <p:cNvPr id="1034" name="Picture 10" descr="JWT">
            <a:extLst>
              <a:ext uri="{FF2B5EF4-FFF2-40B4-BE49-F238E27FC236}">
                <a16:creationId xmlns:a16="http://schemas.microsoft.com/office/drawing/2014/main" id="{B842927A-73A6-E366-4639-98F93E1EB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636" y="4779957"/>
            <a:ext cx="638987" cy="638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55" descr="Peers">
            <a:extLst>
              <a:ext uri="{FF2B5EF4-FFF2-40B4-BE49-F238E27FC236}">
                <a16:creationId xmlns:a16="http://schemas.microsoft.com/office/drawing/2014/main" id="{DC28A78C-5AAD-5B87-5D53-016C2E3E7B9D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895803" y="5112106"/>
            <a:ext cx="944663" cy="944663"/>
          </a:xfrm>
          <a:prstGeom prst="rect">
            <a:avLst/>
          </a:prstGeom>
        </p:spPr>
      </p:pic>
      <p:pic>
        <p:nvPicPr>
          <p:cNvPr id="60" name="Picture 59" descr="Orderers">
            <a:extLst>
              <a:ext uri="{FF2B5EF4-FFF2-40B4-BE49-F238E27FC236}">
                <a16:creationId xmlns:a16="http://schemas.microsoft.com/office/drawing/2014/main" id="{C52F942E-B84F-83D6-2F79-ABEDA025F87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91734" y="5370761"/>
            <a:ext cx="772289" cy="7737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0" y="-47625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7302" y="821465"/>
            <a:ext cx="5117298" cy="2262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solidFill>
                  <a:schemeClr val="tx2"/>
                </a:solidFill>
              </a:rPr>
              <a:t>        Feasibility &amp; Viability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300" b="1" dirty="0"/>
              <a:t>Technically Feasible</a:t>
            </a:r>
            <a:r>
              <a:rPr lang="en-IN" sz="1300" dirty="0"/>
              <a:t>: Uses mature stack (Hyperledger Fabric, Node.js, PostgreSQL, React, Docker).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300" b="1" dirty="0"/>
              <a:t>Operationally Feasible</a:t>
            </a:r>
            <a:r>
              <a:rPr lang="en-IN" sz="1300" dirty="0"/>
              <a:t>: Farmer app, lab portal, manufacturer tracking, and consumer QR scan—mirrors real workflow.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300" b="1" dirty="0"/>
              <a:t>Economically Viable</a:t>
            </a:r>
            <a:r>
              <a:rPr lang="en-IN" sz="1300" dirty="0"/>
              <a:t>: Reduces fraud, builds export trust, and enables premium pricing.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300" b="1" dirty="0"/>
              <a:t>Scalable</a:t>
            </a:r>
            <a:r>
              <a:rPr lang="en-IN" sz="1300" dirty="0"/>
              <a:t>: Works for local pilots and can expand nationwide with support from AYUSH &amp; cooperatives.</a:t>
            </a:r>
          </a:p>
          <a:p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43849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CREATIVE CARTEL</a:t>
            </a:r>
            <a:endParaRPr lang="en-IN" sz="1200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512" y="20929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1B02D75-34DD-3A33-4FA9-DA6C0480B232}"/>
              </a:ext>
            </a:extLst>
          </p:cNvPr>
          <p:cNvSpPr/>
          <p:nvPr/>
        </p:nvSpPr>
        <p:spPr>
          <a:xfrm>
            <a:off x="8227356" y="168622"/>
            <a:ext cx="1595962" cy="80733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501D20-1925-B857-F9B1-3E13A7955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122" y="-96047"/>
            <a:ext cx="1794390" cy="1346613"/>
          </a:xfrm>
          <a:prstGeom prst="rect">
            <a:avLst/>
          </a:prstGeom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20AB585-E624-B940-6A80-0B5DDF705984}"/>
              </a:ext>
            </a:extLst>
          </p:cNvPr>
          <p:cNvSpPr txBox="1"/>
          <p:nvPr/>
        </p:nvSpPr>
        <p:spPr>
          <a:xfrm>
            <a:off x="97302" y="2899379"/>
            <a:ext cx="6100916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solidFill>
                  <a:schemeClr val="tx2"/>
                </a:solidFill>
              </a:rPr>
              <a:t>       Challenges &amp; Risks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300" b="1" dirty="0"/>
              <a:t>Adoption Resistance</a:t>
            </a:r>
            <a:r>
              <a:rPr lang="en-IN" sz="1300" dirty="0"/>
              <a:t>: Farmers, labs may hesitate to adopt tech.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300" b="1" dirty="0"/>
              <a:t>Data Integrity</a:t>
            </a:r>
            <a:r>
              <a:rPr lang="en-IN" sz="1300" dirty="0"/>
              <a:t>: Wrong inputs = permanent blockchain errors.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300" b="1" dirty="0"/>
              <a:t>Rural Infrastructure</a:t>
            </a:r>
            <a:r>
              <a:rPr lang="en-IN" sz="1300" dirty="0"/>
              <a:t>: Poor GPS/internet coverage in remote areas.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300" b="1" dirty="0"/>
              <a:t>Integration Barriers</a:t>
            </a:r>
            <a:r>
              <a:rPr lang="en-IN" sz="1300" dirty="0"/>
              <a:t>: Linking with ERP, government systems.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300" b="1" dirty="0"/>
              <a:t>Scaling Costs</a:t>
            </a:r>
            <a:r>
              <a:rPr lang="en-IN" sz="1300" dirty="0"/>
              <a:t>: Training, maintenance, and infra at large scale.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EF6B32-5117-8B81-75D6-83A7482BE4AF}"/>
              </a:ext>
            </a:extLst>
          </p:cNvPr>
          <p:cNvSpPr txBox="1"/>
          <p:nvPr/>
        </p:nvSpPr>
        <p:spPr>
          <a:xfrm>
            <a:off x="146826" y="4563764"/>
            <a:ext cx="6100916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solidFill>
                  <a:schemeClr val="tx2"/>
                </a:solidFill>
              </a:rPr>
              <a:t>      Solutions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300" b="1" dirty="0"/>
              <a:t>Training + Incentives</a:t>
            </a:r>
            <a:r>
              <a:rPr lang="en-IN" sz="1300" dirty="0"/>
              <a:t>: Reward farmers/labs for verified sustainable inputs.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300" b="1" dirty="0"/>
              <a:t>Smart Contract Validation</a:t>
            </a:r>
            <a:r>
              <a:rPr lang="en-IN" sz="1300" dirty="0"/>
              <a:t>: Auto-checks for location, quality, seasonal rules.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300" b="1" dirty="0"/>
              <a:t>Offline-first </a:t>
            </a:r>
            <a:r>
              <a:rPr lang="en-IN" sz="1300" b="1" dirty="0" err="1"/>
              <a:t>DApp</a:t>
            </a:r>
            <a:r>
              <a:rPr lang="en-IN" sz="1300" dirty="0"/>
              <a:t>: Works without internet, syncs later.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300" b="1" dirty="0"/>
              <a:t>Phased Rollout</a:t>
            </a:r>
            <a:r>
              <a:rPr lang="en-IN" sz="1300" dirty="0"/>
              <a:t>: Start small (pilot states/herbs), then expand.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300" b="1" dirty="0"/>
              <a:t>Partnerships</a:t>
            </a:r>
            <a:r>
              <a:rPr lang="en-IN" sz="1300" dirty="0"/>
              <a:t>: Tie-up with AYUSH Ministry, exporters, pharma giants.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876755-59C3-0F3E-E630-427E55051A1E}"/>
              </a:ext>
            </a:extLst>
          </p:cNvPr>
          <p:cNvSpPr txBox="1"/>
          <p:nvPr/>
        </p:nvSpPr>
        <p:spPr>
          <a:xfrm>
            <a:off x="5968859" y="1098357"/>
            <a:ext cx="6100916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tx2"/>
                </a:solidFill>
              </a:rPr>
              <a:t>     Use Cases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300" b="1" dirty="0"/>
              <a:t>Farm-to-Shelf Traceability</a:t>
            </a:r>
            <a:r>
              <a:rPr lang="en-IN" sz="1300" dirty="0"/>
              <a:t>: Verify exact origin of herbs.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300" b="1" dirty="0"/>
              <a:t>Regulatory Auditing</a:t>
            </a:r>
            <a:r>
              <a:rPr lang="en-IN" sz="1300" dirty="0"/>
              <a:t>: Simplifies compliance reporting for AYUSH/global exports.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300" b="1" dirty="0"/>
              <a:t>Anti-Adulteration</a:t>
            </a:r>
            <a:r>
              <a:rPr lang="en-IN" sz="1300" dirty="0"/>
              <a:t>: Blocks counterfeit/</a:t>
            </a:r>
            <a:r>
              <a:rPr lang="en-IN" sz="1300" dirty="0" err="1"/>
              <a:t>mislabeled</a:t>
            </a:r>
            <a:r>
              <a:rPr lang="en-IN" sz="1300" dirty="0"/>
              <a:t> herbs.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300" b="1" dirty="0"/>
              <a:t>Supply Chain Efficiency</a:t>
            </a:r>
            <a:r>
              <a:rPr lang="en-IN" sz="1300" dirty="0"/>
              <a:t>: Real-time inventory + recall management.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300" b="1" dirty="0"/>
              <a:t>Consumer Transparency</a:t>
            </a:r>
            <a:r>
              <a:rPr lang="en-IN" sz="1300" dirty="0"/>
              <a:t>: QR scan reveals authenticity &amp; sustainability.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CA5448-8738-8297-5714-C4771E3E1E8B}"/>
              </a:ext>
            </a:extLst>
          </p:cNvPr>
          <p:cNvSpPr txBox="1"/>
          <p:nvPr/>
        </p:nvSpPr>
        <p:spPr>
          <a:xfrm>
            <a:off x="6091083" y="2538080"/>
            <a:ext cx="6100916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tx2"/>
                </a:solidFill>
              </a:rPr>
              <a:t>     Business Potential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300" b="1" dirty="0"/>
              <a:t>₹1 Lakh Crore Export Boost</a:t>
            </a:r>
            <a:r>
              <a:rPr lang="en-IN" sz="1300" dirty="0"/>
              <a:t>: Builds global trust in Ayurveda.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300" b="1" dirty="0"/>
              <a:t>Brand Equity &amp; Premium Pricing</a:t>
            </a:r>
            <a:r>
              <a:rPr lang="en-IN" sz="1300" dirty="0"/>
              <a:t>: Verified authenticity = stronger consumer loyalty.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300" b="1" dirty="0"/>
              <a:t>Regulatory Alignment</a:t>
            </a:r>
            <a:r>
              <a:rPr lang="en-IN" sz="1300" dirty="0"/>
              <a:t>: Automatic compliance helps exports scale.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300" b="1" dirty="0"/>
              <a:t>Farmer Empowerment</a:t>
            </a:r>
            <a:r>
              <a:rPr lang="en-IN" sz="1300" dirty="0"/>
              <a:t>: Recognition + fair pricing for quality &amp; sustainability.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2DF96E6-A1FD-05AE-905F-9AFB9ACF3D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149" y="925572"/>
            <a:ext cx="275553" cy="29189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DD01A13-BF5E-C019-9BD3-C5FE810A2D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826" y="4665541"/>
            <a:ext cx="344405" cy="2987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292D05-B139-95A0-3687-E001BF7CCE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4373" y="1031027"/>
            <a:ext cx="373369" cy="3733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B432332-6860-11D4-5CF7-B962D5ABCD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121" y="2951663"/>
            <a:ext cx="311608" cy="31160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1FFFC36-72E4-40A4-7C6C-9BE6CAF516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4373" y="2391379"/>
            <a:ext cx="508000" cy="508000"/>
          </a:xfrm>
          <a:prstGeom prst="rect">
            <a:avLst/>
          </a:prstGeom>
        </p:spPr>
      </p:pic>
      <p:pic>
        <p:nvPicPr>
          <p:cNvPr id="22" name="Picture 21" descr="Supply Chain">
            <a:extLst>
              <a:ext uri="{FF2B5EF4-FFF2-40B4-BE49-F238E27FC236}">
                <a16:creationId xmlns:a16="http://schemas.microsoft.com/office/drawing/2014/main" id="{76A010ED-79BE-6F7C-F332-D0454100A8E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9987" t="13990" r="8227" b="12140"/>
          <a:stretch>
            <a:fillRect/>
          </a:stretch>
        </p:blipFill>
        <p:spPr>
          <a:xfrm>
            <a:off x="7124225" y="3630348"/>
            <a:ext cx="3519008" cy="272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0" y="-169348"/>
            <a:ext cx="12191999" cy="1143000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497909" y="1042505"/>
            <a:ext cx="5084492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u="sng" dirty="0">
                <a:solidFill>
                  <a:schemeClr val="tx2"/>
                </a:solidFill>
              </a:rPr>
              <a:t>Potential Impact on Target Audience</a:t>
            </a:r>
          </a:p>
          <a:p>
            <a:r>
              <a:rPr lang="en-IN" sz="1400" b="1" dirty="0"/>
              <a:t>Farmers &amp; Collectors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400" dirty="0"/>
              <a:t> </a:t>
            </a:r>
            <a:r>
              <a:rPr lang="en-IN" sz="1200" dirty="0"/>
              <a:t>Fair compensation &amp; recognition for quality herbs.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dirty="0"/>
              <a:t> Easy-to-use mobile </a:t>
            </a:r>
            <a:r>
              <a:rPr lang="en-IN" sz="1200" dirty="0" err="1"/>
              <a:t>DApp</a:t>
            </a:r>
            <a:r>
              <a:rPr lang="en-IN" sz="1200" dirty="0"/>
              <a:t> for traceability.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dirty="0"/>
              <a:t> Incentives for sustainable harvesting.</a:t>
            </a:r>
          </a:p>
          <a:p>
            <a:r>
              <a:rPr lang="en-IN" sz="1400" b="1" dirty="0"/>
              <a:t>2. Manufacturers &amp; Exporters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400" dirty="0"/>
              <a:t> </a:t>
            </a:r>
            <a:r>
              <a:rPr lang="en-IN" sz="1200" dirty="0"/>
              <a:t>Assured raw material quality, reduced adulteration.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dirty="0"/>
              <a:t> Simplified regulatory compliance (AYUSH/global).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dirty="0"/>
              <a:t> Access to premium international markets.</a:t>
            </a:r>
          </a:p>
          <a:p>
            <a:r>
              <a:rPr lang="en-IN" sz="1400" b="1" dirty="0"/>
              <a:t>3. Regulators (AYUSH, Govt.)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dirty="0"/>
              <a:t> Full supply chain visibility.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dirty="0"/>
              <a:t> Automatic enforcement of guidelines.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dirty="0"/>
              <a:t> Stronger global positioning of Indian Ayurveda.</a:t>
            </a:r>
          </a:p>
          <a:p>
            <a:r>
              <a:rPr lang="en-IN" sz="1400" b="1" dirty="0"/>
              <a:t>4. Consumers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400" dirty="0"/>
              <a:t> </a:t>
            </a:r>
            <a:r>
              <a:rPr lang="en-IN" sz="1200" dirty="0"/>
              <a:t>Transparency: Scan QR → see farm-to-shelf journey.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dirty="0"/>
              <a:t> Trust in product authenticity, safety &amp; sustainability.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dirty="0"/>
              <a:t> Justifies premium purchase decision.</a:t>
            </a:r>
            <a:br>
              <a:rPr lang="en-IN" sz="1200" dirty="0"/>
            </a:br>
            <a:endParaRPr lang="en-US" sz="12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80D7A04-8E63-B74C-134E-8E1A7EA5652F}"/>
              </a:ext>
            </a:extLst>
          </p:cNvPr>
          <p:cNvSpPr/>
          <p:nvPr/>
        </p:nvSpPr>
        <p:spPr>
          <a:xfrm>
            <a:off x="8227356" y="168622"/>
            <a:ext cx="1595962" cy="80733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CREATIVE CARTEL</a:t>
            </a:r>
            <a:endParaRPr lang="en-IN" sz="1200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127698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EA002D-0C42-8CA3-DB10-36042729A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122" y="-96047"/>
            <a:ext cx="1794390" cy="1346613"/>
          </a:xfrm>
          <a:prstGeom prst="rect">
            <a:avLst/>
          </a:prstGeom>
          <a:ln>
            <a:noFill/>
          </a:ln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55F5CD18-1C1E-3D1A-562B-3B1E82EC7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378" y="996735"/>
            <a:ext cx="6026876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400" b="1" u="sng" dirty="0">
                <a:solidFill>
                  <a:schemeClr val="tx2"/>
                </a:solidFill>
              </a:rPr>
              <a:t>Social Benefits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Farmer Empowerment</a:t>
            </a:r>
            <a:r>
              <a:rPr lang="en-US" sz="1200" dirty="0"/>
              <a:t>: Ensures fair pricing and recognition for quality produce.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Community Trust</a:t>
            </a:r>
            <a:r>
              <a:rPr lang="en-US" sz="1200" dirty="0"/>
              <a:t>: Builds confidence in Ayurveda through transparent sourcing.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Digital Inclusion</a:t>
            </a:r>
            <a:r>
              <a:rPr lang="en-US" sz="1200" dirty="0"/>
              <a:t>: Trains rural farmers in simple tech tools, bridging the digital divide.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400" b="1" u="sng" dirty="0">
                <a:solidFill>
                  <a:schemeClr val="tx2"/>
                </a:solidFill>
              </a:rPr>
              <a:t>Economic Benefits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Export Growth</a:t>
            </a:r>
            <a:r>
              <a:rPr lang="en-US" sz="1200" dirty="0"/>
              <a:t>: Unlocks ₹1 lakh crore market potential with global traceability compliance.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Brand Premium</a:t>
            </a:r>
            <a:r>
              <a:rPr lang="en-US" sz="1200" dirty="0"/>
              <a:t>: “Blockchain Verified” enables higher pricing and stronger consumer loyalty.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Supply Chain Efficiency</a:t>
            </a:r>
            <a:r>
              <a:rPr lang="en-US" sz="1200" dirty="0"/>
              <a:t>: Reduces fraud, recalls, and improves inventory management.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400" b="1" u="sng" dirty="0">
                <a:solidFill>
                  <a:schemeClr val="tx2"/>
                </a:solidFill>
              </a:rPr>
              <a:t>Educational Benefits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Skill Development</a:t>
            </a:r>
            <a:r>
              <a:rPr lang="en-US" sz="1200" dirty="0"/>
              <a:t>: Farmers and stakeholders gain experience in digital tools and blockchain.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Knowledge Sharing</a:t>
            </a:r>
            <a:r>
              <a:rPr lang="en-US" sz="1200" dirty="0"/>
              <a:t>: Consumer portals educate buyers on sourcing, quality, and sustainability.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Research &amp; Academia</a:t>
            </a:r>
            <a:r>
              <a:rPr lang="en-US" sz="1200" dirty="0"/>
              <a:t>: Platform data supports universities, herbal studies, and innovation.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400" b="1" u="sng" dirty="0">
                <a:solidFill>
                  <a:schemeClr val="tx2"/>
                </a:solidFill>
              </a:rPr>
              <a:t>Technological Benefits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Blockchain Integration</a:t>
            </a:r>
            <a:r>
              <a:rPr lang="en-US" sz="1200" dirty="0"/>
              <a:t>: Provides secure, immutable, and scalable traceability.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Cross-Industry Adaptability</a:t>
            </a:r>
            <a:r>
              <a:rPr lang="en-US" sz="1200" dirty="0"/>
              <a:t>: Framework applicable to food, pharma, and cosmetics.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IoT-Ready</a:t>
            </a:r>
            <a:r>
              <a:rPr lang="en-US" sz="1200" dirty="0"/>
              <a:t>: Supports integration with GPS, soil, and temperature sensors for smart agriculture.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400" b="1" u="sng" dirty="0">
                <a:solidFill>
                  <a:schemeClr val="tx2"/>
                </a:solidFill>
              </a:rPr>
              <a:t>Environmental Benefits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Biodiversity Protection</a:t>
            </a:r>
            <a:r>
              <a:rPr lang="en-US" sz="1200" dirty="0"/>
              <a:t>: Prevents over-harvesting of vulnerable species.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Sustainable Practices</a:t>
            </a:r>
            <a:r>
              <a:rPr lang="en-US" sz="1200" dirty="0"/>
              <a:t>: Promotes eco-friendly sourcing and responsible farming.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Climate Impact Reduction</a:t>
            </a:r>
            <a:r>
              <a:rPr lang="en-US" sz="1200" dirty="0"/>
              <a:t>: Optimized supply chains reduce waste and carbon footprint.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292304" y="-96047"/>
            <a:ext cx="10972800" cy="1143000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512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BB74D653-887D-FB0C-EDDE-17DF1105AB04}"/>
              </a:ext>
            </a:extLst>
          </p:cNvPr>
          <p:cNvSpPr/>
          <p:nvPr/>
        </p:nvSpPr>
        <p:spPr>
          <a:xfrm>
            <a:off x="8227356" y="168622"/>
            <a:ext cx="1595962" cy="80733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006E32-F324-96C1-A072-3AAD9352B1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122" y="-96047"/>
            <a:ext cx="1794390" cy="1346613"/>
          </a:xfrm>
          <a:prstGeom prst="rect">
            <a:avLst/>
          </a:prstGeom>
          <a:ln>
            <a:noFill/>
          </a:ln>
        </p:spPr>
      </p:pic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780A4BEB-0FD4-4E14-E9EC-756C40823A1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CREATIVE CARTEL</a:t>
            </a:r>
            <a:endParaRPr lang="en-IN" sz="1200" dirty="0"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FCD525DC-A04B-35FA-E084-7B03AF6F2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154" y="894350"/>
            <a:ext cx="12191999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References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2778D1-D7AF-03BC-3211-04A12C87F606}"/>
              </a:ext>
            </a:extLst>
          </p:cNvPr>
          <p:cNvSpPr txBox="1"/>
          <p:nvPr/>
        </p:nvSpPr>
        <p:spPr>
          <a:xfrm>
            <a:off x="284479" y="1381760"/>
            <a:ext cx="54051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Walmart Case Study: Hyperledger Fabric for Food Supply Chain</a:t>
            </a:r>
          </a:p>
          <a:p>
            <a:r>
              <a:rPr lang="en-US" sz="1200" dirty="0"/>
              <a:t>	</a:t>
            </a:r>
            <a:r>
              <a:rPr lang="en-US" sz="1200" dirty="0">
                <a:hlinkClick r:id="rId5"/>
              </a:rPr>
              <a:t>https://www.lfdecentralizedtrust.org/case-studies/walmart-case-study</a:t>
            </a: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 err="1"/>
              <a:t>HerBChain</a:t>
            </a:r>
            <a:r>
              <a:rPr lang="en-US" sz="1200" dirty="0"/>
              <a:t>: A Blockchain-Based Informative Platform for Quality Assurance in the Herbal Industry (2021)</a:t>
            </a:r>
          </a:p>
          <a:p>
            <a:pPr lvl="1"/>
            <a:r>
              <a:rPr lang="en-US" sz="1200" dirty="0">
                <a:hlinkClick r:id="rId6"/>
              </a:rPr>
              <a:t>https://pmc.ncbi.nlm.nih.gov/articles/PMC8572703/</a:t>
            </a: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Blockchain Technology in Herbal Medicines: Applications, Trends, and Challenges (2025)</a:t>
            </a:r>
          </a:p>
          <a:p>
            <a:r>
              <a:rPr lang="en-US" sz="1200" dirty="0"/>
              <a:t>	</a:t>
            </a:r>
            <a:r>
              <a:rPr lang="en-US" sz="1200" dirty="0">
                <a:hlinkClick r:id="rId7"/>
              </a:rPr>
              <a:t>https://www.sciencedirect.com/science/article/abs/pii/S2214786125000257</a:t>
            </a:r>
            <a:endParaRPr lang="en-US" sz="1200" dirty="0"/>
          </a:p>
          <a:p>
            <a:endParaRPr lang="en-US" sz="1200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14BCD75-AB1E-B65E-D461-B140102B3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161801"/>
              </p:ext>
            </p:extLst>
          </p:nvPr>
        </p:nvGraphicFramePr>
        <p:xfrm>
          <a:off x="5865925" y="1218613"/>
          <a:ext cx="6217920" cy="4754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36320">
                  <a:extLst>
                    <a:ext uri="{9D8B030D-6E8A-4147-A177-3AD203B41FA5}">
                      <a16:colId xmlns:a16="http://schemas.microsoft.com/office/drawing/2014/main" val="965612781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1819628987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3938736484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842242995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360367713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3322651185"/>
                    </a:ext>
                  </a:extLst>
                </a:gridCol>
              </a:tblGrid>
              <a:tr h="383854">
                <a:tc>
                  <a:txBody>
                    <a:bodyPr/>
                    <a:lstStyle/>
                    <a:p>
                      <a:r>
                        <a:rPr lang="en-US" sz="1000" dirty="0"/>
                        <a:t>Feature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Proposed System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HerBChain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MedicLedger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Walmart Food Trust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PharmaChain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223320"/>
                  </a:ext>
                </a:extLst>
              </a:tr>
              <a:tr h="383854">
                <a:tc>
                  <a:txBody>
                    <a:bodyPr/>
                    <a:lstStyle/>
                    <a:p>
                      <a:r>
                        <a:rPr lang="en-US" sz="1000" dirty="0"/>
                        <a:t>Permissioned</a:t>
                      </a:r>
                    </a:p>
                    <a:p>
                      <a:r>
                        <a:rPr lang="en-US" sz="1000" dirty="0"/>
                        <a:t>Blockchain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965646"/>
                  </a:ext>
                </a:extLst>
              </a:tr>
              <a:tr h="383854">
                <a:tc>
                  <a:txBody>
                    <a:bodyPr/>
                    <a:lstStyle/>
                    <a:p>
                      <a:r>
                        <a:rPr lang="en-US" sz="1000" dirty="0"/>
                        <a:t>Hyperledger</a:t>
                      </a:r>
                    </a:p>
                    <a:p>
                      <a:r>
                        <a:rPr lang="en-US" sz="1000" dirty="0"/>
                        <a:t>Fabric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 (Basic)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947378"/>
                  </a:ext>
                </a:extLst>
              </a:tr>
              <a:tr h="383854">
                <a:tc>
                  <a:txBody>
                    <a:bodyPr/>
                    <a:lstStyle/>
                    <a:p>
                      <a:r>
                        <a:rPr lang="en-US" sz="1000" dirty="0"/>
                        <a:t>Smart Contracts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770894"/>
                  </a:ext>
                </a:extLst>
              </a:tr>
              <a:tr h="383854">
                <a:tc>
                  <a:txBody>
                    <a:bodyPr/>
                    <a:lstStyle/>
                    <a:p>
                      <a:r>
                        <a:rPr lang="en-US" sz="1000" dirty="0"/>
                        <a:t>Standardized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 (Basic)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837706"/>
                  </a:ext>
                </a:extLst>
              </a:tr>
              <a:tr h="383854">
                <a:tc>
                  <a:txBody>
                    <a:bodyPr/>
                    <a:lstStyle/>
                    <a:p>
                      <a:r>
                        <a:rPr lang="en-US" sz="1000" dirty="0"/>
                        <a:t>Consumer Portal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 (Basic)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064131"/>
                  </a:ext>
                </a:extLst>
              </a:tr>
              <a:tr h="383854">
                <a:tc>
                  <a:txBody>
                    <a:bodyPr/>
                    <a:lstStyle/>
                    <a:p>
                      <a:r>
                        <a:rPr lang="en-US" sz="1000" dirty="0"/>
                        <a:t>RESTful APIs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 (Basic)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70925"/>
                  </a:ext>
                </a:extLst>
              </a:tr>
              <a:tr h="383854">
                <a:tc>
                  <a:txBody>
                    <a:bodyPr/>
                    <a:lstStyle/>
                    <a:p>
                      <a:r>
                        <a:rPr lang="en-US" sz="1000" dirty="0"/>
                        <a:t>Hybrid ON/OFF Chain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589979"/>
                  </a:ext>
                </a:extLst>
              </a:tr>
              <a:tr h="383854">
                <a:tc>
                  <a:txBody>
                    <a:bodyPr/>
                    <a:lstStyle/>
                    <a:p>
                      <a:r>
                        <a:rPr lang="en-US" sz="1000" dirty="0"/>
                        <a:t>Sustainability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 (Basic)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183682"/>
                  </a:ext>
                </a:extLst>
              </a:tr>
              <a:tr h="383854">
                <a:tc>
                  <a:txBody>
                    <a:bodyPr/>
                    <a:lstStyle/>
                    <a:p>
                      <a:r>
                        <a:rPr lang="en-US" sz="1000" dirty="0"/>
                        <a:t>Ayurvedic Specific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695950"/>
                  </a:ext>
                </a:extLst>
              </a:tr>
              <a:tr h="383854">
                <a:tc>
                  <a:txBody>
                    <a:bodyPr/>
                    <a:lstStyle/>
                    <a:p>
                      <a:r>
                        <a:rPr lang="en-US" sz="1000" dirty="0"/>
                        <a:t>Real-Time</a:t>
                      </a:r>
                    </a:p>
                    <a:p>
                      <a:r>
                        <a:rPr lang="en-US" sz="1000" dirty="0"/>
                        <a:t>Monitoring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789000"/>
                  </a:ext>
                </a:extLst>
              </a:tr>
              <a:tr h="383854">
                <a:tc>
                  <a:txBody>
                    <a:bodyPr/>
                    <a:lstStyle/>
                    <a:p>
                      <a:r>
                        <a:rPr lang="en-US" sz="1000" dirty="0"/>
                        <a:t>Regulatory</a:t>
                      </a:r>
                    </a:p>
                    <a:p>
                      <a:r>
                        <a:rPr lang="en-US" sz="1000" dirty="0"/>
                        <a:t>Compliance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X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effectLst/>
                        </a:rPr>
                        <a:t>✓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377359"/>
                  </a:ext>
                </a:extLst>
              </a:tr>
            </a:tbl>
          </a:graphicData>
        </a:graphic>
      </p:graphicFrame>
      <p:sp>
        <p:nvSpPr>
          <p:cNvPr id="19" name="TextBox 8">
            <a:extLst>
              <a:ext uri="{FF2B5EF4-FFF2-40B4-BE49-F238E27FC236}">
                <a16:creationId xmlns:a16="http://schemas.microsoft.com/office/drawing/2014/main" id="{98878BB1-8468-6B67-A55B-65C1E557F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153" y="2970685"/>
            <a:ext cx="12191999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Resources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D65957-D491-140A-7844-15CF0B6DB84E}"/>
              </a:ext>
            </a:extLst>
          </p:cNvPr>
          <p:cNvSpPr txBox="1"/>
          <p:nvPr/>
        </p:nvSpPr>
        <p:spPr>
          <a:xfrm>
            <a:off x="284479" y="3557995"/>
            <a:ext cx="54051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AI-Driven Procurement in Ayurveda and Ayurvedic Medicines Supply Chain (2025)</a:t>
            </a:r>
          </a:p>
          <a:p>
            <a:pPr lvl="1"/>
            <a:r>
              <a:rPr lang="en-US" sz="1200" dirty="0">
                <a:hlinkClick r:id="rId8"/>
              </a:rPr>
              <a:t>https://www.scirp.org/pdf/ojbm_1534458.pdf</a:t>
            </a: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Leveraging Deep Learning and Blockchain for Enhanced Transparency and Traceability in the Indian Herbal Product Supply Chain (2024, with 2025 updates)</a:t>
            </a:r>
          </a:p>
          <a:p>
            <a:r>
              <a:rPr lang="en-US" sz="1200" dirty="0"/>
              <a:t>	</a:t>
            </a:r>
            <a:r>
              <a:rPr lang="en-US" sz="1200" dirty="0">
                <a:hlinkClick r:id="rId9"/>
              </a:rPr>
              <a:t>https://ieeexplore.ieee.org/document/10581263/</a:t>
            </a: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Research on Operation Strategy of Multiple Channels Pharmaceutical Supply Chain Based on Blockchain Traceability (2025)</a:t>
            </a:r>
          </a:p>
          <a:p>
            <a:pPr lvl="1"/>
            <a:r>
              <a:rPr lang="en-US" sz="1200" dirty="0">
                <a:hlinkClick r:id="rId10"/>
              </a:rPr>
              <a:t>https://www.nature.com/articles/s41598-025-00727-7</a:t>
            </a:r>
            <a:endParaRPr lang="en-US" sz="1200" dirty="0"/>
          </a:p>
          <a:p>
            <a:pPr lvl="1"/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7780</TotalTime>
  <Words>1509</Words>
  <Application>Microsoft Office PowerPoint</Application>
  <PresentationFormat>Widescreen</PresentationFormat>
  <Paragraphs>233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Courier New</vt:lpstr>
      <vt:lpstr>Garamond</vt:lpstr>
      <vt:lpstr>Times New Roman</vt:lpstr>
      <vt:lpstr>TradeGothic</vt:lpstr>
      <vt:lpstr>Wingdings</vt:lpstr>
      <vt:lpstr>Office Theme</vt:lpstr>
      <vt:lpstr>SMART INDIA HACKATHON 2025</vt:lpstr>
      <vt:lpstr>SOIL-TO-SHELF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Bishnu prasad Kar</cp:lastModifiedBy>
  <cp:revision>153</cp:revision>
  <dcterms:created xsi:type="dcterms:W3CDTF">2013-12-12T18:46:50Z</dcterms:created>
  <dcterms:modified xsi:type="dcterms:W3CDTF">2025-10-04T11:06:59Z</dcterms:modified>
  <cp:category/>
</cp:coreProperties>
</file>